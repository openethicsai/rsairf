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17DF5-74EB-C84C-B5B8-1F9434993DD0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791DA-C0B8-1345-951B-742C35C0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23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791DA-C0B8-1345-951B-742C35C067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94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0" i="0" dirty="0">
                <a:solidFill>
                  <a:srgbClr val="FFFFFF"/>
                </a:solidFill>
                <a:latin typeface="Exo 2"/>
              </a:rPr>
              <a:t>Really Simple</a:t>
            </a:r>
          </a:p>
          <a:p>
            <a:pPr algn="l">
              <a:lnSpc>
                <a:spcPct val="100000"/>
              </a:lnSpc>
            </a:pPr>
            <a:r>
              <a:rPr sz="5800" b="0" i="0" dirty="0">
                <a:solidFill>
                  <a:srgbClr val="FFFFFF"/>
                </a:solidFill>
                <a:latin typeface="Exo 2"/>
              </a:rPr>
              <a:t>AI Risk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8686800" cy="10978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Slab"/>
              </a:rPr>
              <a:t>v</a:t>
            </a:r>
            <a:r>
              <a:rPr lang="en-US" sz="1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Slab"/>
              </a:rPr>
              <a:t>1.0.0</a:t>
            </a:r>
          </a:p>
          <a:p>
            <a:pPr algn="l">
              <a:lnSpc>
                <a:spcPct val="140000"/>
              </a:lnSpc>
            </a:pPr>
            <a:r>
              <a:rPr sz="1700" b="0" i="0" dirty="0">
                <a:solidFill>
                  <a:srgbClr val="DDDDDD"/>
                </a:solidFill>
                <a:latin typeface="Roboto Slab"/>
              </a:rPr>
              <a:t>A shared register for </a:t>
            </a:r>
            <a:r>
              <a:rPr lang="en-US" sz="1700" b="0" i="0" dirty="0">
                <a:solidFill>
                  <a:srgbClr val="DDDDDD"/>
                </a:solidFill>
                <a:latin typeface="Roboto Slab"/>
              </a:rPr>
              <a:t>identifying</a:t>
            </a:r>
            <a:r>
              <a:rPr sz="1700" b="0" i="0" dirty="0">
                <a:solidFill>
                  <a:srgbClr val="DDDDDD"/>
                </a:solidFill>
                <a:latin typeface="Roboto Slab"/>
              </a:rPr>
              <a:t>, scoring, and tracking what can go wrong when you build, ship, or run AI — </a:t>
            </a:r>
            <a:r>
              <a:rPr lang="en-US" sz="1700" b="0" i="0" dirty="0">
                <a:solidFill>
                  <a:srgbClr val="DDDDDD"/>
                </a:solidFill>
                <a:latin typeface="Roboto Slab"/>
              </a:rPr>
              <a:t>thirty</a:t>
            </a:r>
            <a:r>
              <a:rPr sz="1700" b="0" i="0" dirty="0">
                <a:solidFill>
                  <a:srgbClr val="DDDDDD"/>
                </a:solidFill>
                <a:latin typeface="Roboto Slab"/>
              </a:rPr>
              <a:t> risks, </a:t>
            </a:r>
            <a:r>
              <a:rPr lang="en-US" sz="1700" b="0" i="0" dirty="0">
                <a:solidFill>
                  <a:srgbClr val="DDDDDD"/>
                </a:solidFill>
                <a:latin typeface="Roboto Slab"/>
              </a:rPr>
              <a:t>four</a:t>
            </a:r>
            <a:r>
              <a:rPr sz="1700" b="0" i="0" dirty="0">
                <a:solidFill>
                  <a:srgbClr val="DDDDDD"/>
                </a:solidFill>
                <a:latin typeface="Roboto Slab"/>
              </a:rPr>
              <a:t> lifecycle stages, </a:t>
            </a:r>
            <a:r>
              <a:rPr lang="en-US" sz="1700" b="0" i="0" dirty="0">
                <a:solidFill>
                  <a:srgbClr val="DDDDDD"/>
                </a:solidFill>
                <a:latin typeface="Roboto Slab"/>
              </a:rPr>
              <a:t>one</a:t>
            </a:r>
            <a:r>
              <a:rPr sz="1700" b="0" i="0" dirty="0">
                <a:solidFill>
                  <a:srgbClr val="DDDDDD"/>
                </a:solidFill>
                <a:latin typeface="Roboto Slab"/>
              </a:rPr>
              <a:t> ID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88136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AAAAAA"/>
                </a:solidFill>
                <a:latin typeface="Roboto Medium"/>
              </a:rPr>
              <a:t>RSAIRF · Open Ethics Initiative     </a:t>
            </a:r>
            <a:r>
              <a:rPr sz="1050" b="0" dirty="0" err="1">
                <a:solidFill>
                  <a:srgbClr val="AAAAAA"/>
                </a:solidFill>
                <a:latin typeface="Roboto Medium"/>
              </a:rPr>
              <a:t>github.com</a:t>
            </a:r>
            <a:r>
              <a:rPr sz="1050" b="0" dirty="0">
                <a:solidFill>
                  <a:srgbClr val="AAAAAA"/>
                </a:solidFill>
                <a:latin typeface="Roboto Medium"/>
              </a:rPr>
              <a:t>/</a:t>
            </a:r>
            <a:r>
              <a:rPr sz="1050" b="0" dirty="0" err="1">
                <a:solidFill>
                  <a:srgbClr val="AAAAAA"/>
                </a:solidFill>
                <a:latin typeface="Roboto Medium"/>
              </a:rPr>
              <a:t>OpenEthicsAI</a:t>
            </a:r>
            <a:r>
              <a:rPr sz="1050" b="0" dirty="0">
                <a:solidFill>
                  <a:srgbClr val="AAAAAA"/>
                </a:solidFill>
                <a:latin typeface="Roboto Medium"/>
              </a:rPr>
              <a:t>/RSAIRF     Licensed CC BY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"/>
            <a:ext cx="4389120" cy="1828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0" b="1" i="0">
                <a:solidFill>
                  <a:srgbClr val="2A2E33"/>
                </a:solidFill>
                <a:latin typeface="Roboto Mono"/>
              </a:rPr>
              <a:t>01–30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F03A14-97CC-1B75-17C2-A53EBE652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50871"/>
            <a:ext cx="1714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02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WHY IT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86868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1B1F23"/>
                </a:solidFill>
                <a:latin typeface="Exo 2"/>
              </a:rPr>
              <a:t>Every organization deploys and uses AI.</a:t>
            </a:r>
          </a:p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B1F23"/>
                </a:solidFill>
                <a:latin typeface="Exo 2"/>
              </a:rPr>
              <a:t>Few build it. Almost none monitor it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42416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54545"/>
                </a:solidFill>
                <a:latin typeface="Roboto Slab"/>
              </a:rPr>
              <a:t>The AI Risk Register is curated from public sources and the internal incident learnings of real client engagements — not written from theory. It exists because the biggest exposures usually aren’t in the model itself. They’re in the gaps around it: tools adopted without approval, and monitoring that was never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3566160" cy="1188720"/>
          </a:xfrm>
          <a:prstGeom prst="rect">
            <a:avLst/>
          </a:prstGeom>
          <a:noFill/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315968"/>
            <a:ext cx="3291840" cy="8043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sz="3600" b="1" dirty="0">
                <a:solidFill>
                  <a:srgbClr val="1B1F23"/>
                </a:solidFill>
                <a:latin typeface="Roboto Mono"/>
              </a:rPr>
              <a:t>AIR01–30</a:t>
            </a:r>
            <a:endParaRPr sz="2600" b="1" i="0" dirty="0">
              <a:solidFill>
                <a:srgbClr val="1B1F23"/>
              </a:solidFill>
              <a:latin typeface="Roboto Mono"/>
            </a:endParaRPr>
          </a:p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454545"/>
                </a:solidFill>
                <a:latin typeface="Roboto Medium"/>
              </a:rPr>
              <a:t>traceable 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4206240"/>
            <a:ext cx="3566160" cy="1188720"/>
          </a:xfrm>
          <a:prstGeom prst="rect">
            <a:avLst/>
          </a:prstGeom>
          <a:noFill/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4315968"/>
            <a:ext cx="3291840" cy="8043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 i="0" dirty="0">
                <a:solidFill>
                  <a:srgbClr val="1B1F23"/>
                </a:solidFill>
                <a:latin typeface="Roboto Mono"/>
              </a:rPr>
              <a:t>4</a:t>
            </a:r>
            <a:endParaRPr sz="2600" b="1" i="0" dirty="0">
              <a:solidFill>
                <a:srgbClr val="1B1F23"/>
              </a:solidFill>
              <a:latin typeface="Roboto Mono"/>
            </a:endParaRPr>
          </a:p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454545"/>
                </a:solidFill>
                <a:latin typeface="Roboto Medium"/>
              </a:rPr>
              <a:t>lifecycle stages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8976" y="4206240"/>
            <a:ext cx="3566160" cy="1188720"/>
          </a:xfrm>
          <a:prstGeom prst="rect">
            <a:avLst/>
          </a:prstGeom>
          <a:noFill/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46136" y="4315968"/>
            <a:ext cx="3291840" cy="7910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3600" b="1" i="0" dirty="0">
                <a:solidFill>
                  <a:srgbClr val="1B1F23"/>
                </a:solidFill>
                <a:latin typeface="Roboto Mono"/>
              </a:rPr>
              <a:t>5</a:t>
            </a:r>
            <a:endParaRPr sz="3600" b="1" i="0" dirty="0">
              <a:solidFill>
                <a:srgbClr val="1B1F23"/>
              </a:solidFill>
              <a:latin typeface="Roboto Mono"/>
            </a:endParaRPr>
          </a:p>
          <a:p>
            <a:pPr>
              <a:lnSpc>
                <a:spcPct val="105000"/>
              </a:lnSpc>
            </a:pPr>
            <a:r>
              <a:rPr lang="en-US" sz="1100" dirty="0">
                <a:solidFill>
                  <a:srgbClr val="1B1F23"/>
                </a:solidFill>
                <a:latin typeface="Exo 2"/>
              </a:rPr>
              <a:t>mapped to existing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03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THE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 dirty="0">
                <a:solidFill>
                  <a:srgbClr val="1B1F23"/>
                </a:solidFill>
                <a:latin typeface="Exo 2"/>
              </a:rPr>
              <a:t>Every initiative moves through four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2461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28803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B1F23"/>
                </a:solidFill>
                <a:latin typeface="Exo 2"/>
              </a:rPr>
              <a:t>Development</a:t>
            </a:r>
          </a:p>
          <a:p>
            <a:pPr algn="l"/>
            <a:r>
              <a:rPr sz="1100" b="0" i="0">
                <a:solidFill>
                  <a:srgbClr val="454545"/>
                </a:solidFill>
                <a:latin typeface="Roboto Medium"/>
              </a:rPr>
              <a:t>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965960"/>
            <a:ext cx="502920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0" i="0">
                <a:solidFill>
                  <a:srgbClr val="999999"/>
                </a:solidFill>
                <a:latin typeface="Roboto Mon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2461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28803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B1F23"/>
                </a:solidFill>
                <a:latin typeface="Exo 2"/>
              </a:rPr>
              <a:t>Deployment</a:t>
            </a:r>
          </a:p>
          <a:p>
            <a:pPr algn="l"/>
            <a:r>
              <a:rPr sz="1100" b="0" i="0">
                <a:solidFill>
                  <a:srgbClr val="454545"/>
                </a:solidFill>
                <a:latin typeface="Roboto Medium"/>
              </a:rPr>
              <a:t>Model / Component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965960"/>
            <a:ext cx="502920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0" i="0">
                <a:solidFill>
                  <a:srgbClr val="999999"/>
                </a:solidFill>
                <a:latin typeface="Roboto Mono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65960"/>
            <a:ext cx="3246120" cy="9601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075688"/>
            <a:ext cx="288036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B1F23"/>
                </a:solidFill>
                <a:latin typeface="Exo 2"/>
              </a:rPr>
              <a:t>Use</a:t>
            </a:r>
          </a:p>
          <a:p>
            <a:pPr algn="l"/>
            <a:r>
              <a:rPr sz="1100" b="0" i="0">
                <a:solidFill>
                  <a:srgbClr val="454545"/>
                </a:solidFill>
                <a:latin typeface="Roboto Medium"/>
              </a:rPr>
              <a:t>AI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0881360" cy="594360"/>
          </a:xfrm>
          <a:prstGeom prst="rect">
            <a:avLst/>
          </a:prstGeom>
          <a:noFill/>
          <a:ln w="9525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088136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>
                <a:solidFill>
                  <a:srgbClr val="1B1F23"/>
                </a:solidFill>
                <a:latin typeface="Roboto Black"/>
              </a:rPr>
              <a:t>Continuous Monitoring &amp; Evaluation</a:t>
            </a:r>
            <a:r>
              <a:rPr sz="1250" b="0">
                <a:solidFill>
                  <a:srgbClr val="454545"/>
                </a:solidFill>
                <a:latin typeface="Roboto Medium"/>
              </a:rPr>
              <a:t>  —  runs across all three stages, and feeds findings back into any of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624328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E8914"/>
                </a:solidFill>
                <a:latin typeface="Exo 2"/>
              </a:rPr>
              <a:t>Development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54545"/>
                </a:solidFill>
                <a:latin typeface="Roboto Medium"/>
              </a:rPr>
              <a:t>You design or materially change AI behavior — data selection, training, tuning, 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60520"/>
            <a:ext cx="2624328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E8914"/>
                </a:solidFill>
                <a:latin typeface="Exo 2"/>
              </a:rPr>
              <a:t>Deployment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54545"/>
                </a:solidFill>
                <a:latin typeface="Roboto Medium"/>
              </a:rPr>
              <a:t>You don’t build the model, but you integrate, configure, and release AI components into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2624328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E8914"/>
                </a:solidFill>
                <a:latin typeface="Exo 2"/>
              </a:rPr>
              <a:t>Use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54545"/>
                </a:solidFill>
                <a:latin typeface="Roboto Medium"/>
              </a:rPr>
              <a:t>You consume a deployed AI solution and make decisions or take actions based on its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160520"/>
            <a:ext cx="2624328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E8914"/>
                </a:solidFill>
                <a:latin typeface="Exo 2"/>
              </a:rPr>
              <a:t>Monitoring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54545"/>
                </a:solidFill>
                <a:latin typeface="Roboto Medium"/>
              </a:rPr>
              <a:t>You track risk, quality, and incidents over time — continuous, and running across every other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04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THE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Four steps, repeated at every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3E8914"/>
                </a:solidFill>
                <a:latin typeface="Roboto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84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F23"/>
                </a:solidFill>
                <a:latin typeface="Roboto Medium"/>
              </a:rPr>
              <a:t>Check which lifecycle stages apply to your initiative — run a discovery session with your technical team if it’s unclear.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548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3E8914"/>
                </a:solidFill>
                <a:latin typeface="Roboto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24328"/>
            <a:ext cx="9784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F23"/>
                </a:solidFill>
                <a:latin typeface="Roboto Medium"/>
              </a:rPr>
              <a:t>Map risks using register.csv. Stage tags show where each risk is typically introduced or first exploitable.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82696"/>
            <a:ext cx="548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3E8914"/>
                </a:solidFill>
                <a:latin typeface="Roboto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82696"/>
            <a:ext cx="9784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F23"/>
                </a:solidFill>
                <a:latin typeface="Roboto Medium"/>
              </a:rPr>
              <a:t>For every applicable AIR## risk, record likelihood, impact, an owner, and a mitigation — and reference that ID in your project’s risk log or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41064"/>
            <a:ext cx="548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3E8914"/>
                </a:solidFill>
                <a:latin typeface="Roboto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41064"/>
            <a:ext cx="9784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F23"/>
                </a:solidFill>
                <a:latin typeface="Roboto Medium"/>
              </a:rPr>
              <a:t>Found a risk that isn’t represented? Open a repository issue — your contribution may help other teams too.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90872"/>
            <a:ext cx="36576" cy="502920"/>
          </a:xfrm>
          <a:prstGeom prst="rect">
            <a:avLst/>
          </a:prstGeom>
          <a:solidFill>
            <a:srgbClr val="3E8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72584"/>
            <a:ext cx="98755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B1F23"/>
                </a:solidFill>
                <a:latin typeface="Roboto Slab"/>
              </a:rPr>
              <a:t>Re-check the register at each stage transition — a risk that was out of scope earlier may now apply.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76672"/>
            <a:ext cx="9875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i="0">
                <a:solidFill>
                  <a:srgbClr val="454545"/>
                </a:solidFill>
                <a:latin typeface="Roboto Medium"/>
              </a:rPr>
              <a:t>↻  treat this as a living list, not a one-time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05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200" b="1" dirty="0">
                <a:solidFill>
                  <a:srgbClr val="3E8914"/>
                </a:solidFill>
                <a:latin typeface="Exo 2"/>
              </a:rPr>
              <a:t>SCORING ·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Exo 2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How probable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454545"/>
                </a:solidFill>
                <a:latin typeface="Roboto Slab"/>
              </a:rPr>
              <a:t>For every applicable risk, rate </a:t>
            </a:r>
            <a:r>
              <a:rPr sz="1450" b="1">
                <a:solidFill>
                  <a:srgbClr val="1B1F23"/>
                </a:solidFill>
                <a:latin typeface="Roboto Slab"/>
              </a:rPr>
              <a:t>likelihood</a:t>
            </a:r>
            <a:r>
              <a:rPr sz="1450" b="0">
                <a:solidFill>
                  <a:srgbClr val="454545"/>
                </a:solidFill>
                <a:latin typeface="Roboto Slab"/>
              </a:rPr>
              <a:t> — how probable it is that the risk materializes in your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109728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032252"/>
            <a:ext cx="109728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514600"/>
            <a:ext cx="21945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37360" y="3032252"/>
            <a:ext cx="21945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514600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Likelihood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14600"/>
            <a:ext cx="75895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3032252"/>
            <a:ext cx="758952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2514600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44952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044952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04495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3044952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Rare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044952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3044952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Not expected during the initiative’s lifetime.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109728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575304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575304"/>
            <a:ext cx="219456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3575304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Unlikely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575304"/>
            <a:ext cx="758952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0" y="3575304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Could occur, but not expected.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105656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105656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4105656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4105656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Possible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4105656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0" y="4105656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May occur occasionally.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636008"/>
            <a:ext cx="109728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636008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4636008"/>
            <a:ext cx="219456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0" y="4636008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Likely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636008"/>
            <a:ext cx="758952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0" y="4636008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Expected to occur at some point.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16636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960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5166360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0" y="5166360"/>
            <a:ext cx="205740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Almost certain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5166360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23360" y="5166360"/>
            <a:ext cx="745236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Expected to occur often, or already observed.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06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3E8914"/>
                </a:solidFill>
                <a:latin typeface="Exo 2"/>
              </a:rPr>
              <a:t>SCORING · </a:t>
            </a:r>
            <a:r>
              <a:rPr lang="en-US" sz="1200" b="1" i="0" dirty="0">
                <a:solidFill>
                  <a:schemeClr val="bg1">
                    <a:lumMod val="50000"/>
                  </a:schemeClr>
                </a:solidFill>
                <a:latin typeface="Exo 2"/>
              </a:rPr>
              <a:t>Impact</a:t>
            </a:r>
            <a:endParaRPr sz="1200" b="1" i="0" dirty="0">
              <a:solidFill>
                <a:schemeClr val="bg1">
                  <a:lumMod val="50000"/>
                </a:schemeClr>
              </a:solidFill>
              <a:latin typeface="Exo 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How severe, if it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454545"/>
                </a:solidFill>
                <a:latin typeface="Roboto Slab"/>
              </a:rPr>
              <a:t>Then rate </a:t>
            </a:r>
            <a:r>
              <a:rPr sz="1450" b="1">
                <a:solidFill>
                  <a:srgbClr val="1B1F23"/>
                </a:solidFill>
                <a:latin typeface="Roboto Slab"/>
              </a:rPr>
              <a:t>impact</a:t>
            </a:r>
            <a:r>
              <a:rPr sz="1450" b="0">
                <a:solidFill>
                  <a:srgbClr val="454545"/>
                </a:solidFill>
                <a:latin typeface="Roboto Slab"/>
              </a:rPr>
              <a:t> — the severity of the consequence if the risk does materialize.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972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867660"/>
            <a:ext cx="109728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377440"/>
            <a:ext cx="21945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37360" y="2867660"/>
            <a:ext cx="21945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37744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377440"/>
            <a:ext cx="75895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867660"/>
            <a:ext cx="758952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237744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03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8803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288036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Negligible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88036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288036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Minimal effect; no material harm.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109728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383280"/>
            <a:ext cx="21945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338328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Minor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383280"/>
            <a:ext cx="7589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0" y="338328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Limited harm, easily remediated.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8620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38862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388620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Moderate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388620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0" y="388620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Noticeable harm, cost, or user impact.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89120"/>
            <a:ext cx="109728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4389120"/>
            <a:ext cx="21945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0" y="438912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Major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389120"/>
            <a:ext cx="7589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0" y="438912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Significant financial, regulatory, or reputational harm.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89204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4892040"/>
            <a:ext cx="9601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ono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48920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0" y="4892040"/>
            <a:ext cx="20574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Severe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489204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23360" y="4892040"/>
            <a:ext cx="74523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3"/>
                </a:solidFill>
                <a:latin typeface="Roboto Medium"/>
              </a:rPr>
              <a:t>Critical or potentially irreversible harm to people, rights, or the organization.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07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THE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448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 dirty="0">
                <a:solidFill>
                  <a:srgbClr val="367811"/>
                </a:solidFill>
                <a:latin typeface="Exo 2"/>
              </a:rPr>
              <a:t>Likelihood</a:t>
            </a:r>
            <a:r>
              <a:rPr sz="2800" b="0" i="0" dirty="0">
                <a:solidFill>
                  <a:srgbClr val="1B1F23"/>
                </a:solidFill>
                <a:latin typeface="Exo 2"/>
              </a:rPr>
              <a:t> × </a:t>
            </a:r>
            <a:r>
              <a:rPr sz="2800" b="0" i="0" dirty="0">
                <a:solidFill>
                  <a:srgbClr val="367811"/>
                </a:solidFill>
                <a:latin typeface="Exo 2"/>
              </a:rPr>
              <a:t>impact</a:t>
            </a:r>
            <a:r>
              <a:rPr sz="2800" b="0" i="0" dirty="0">
                <a:solidFill>
                  <a:srgbClr val="1B1F23"/>
                </a:solidFill>
                <a:latin typeface="Exo 2"/>
              </a:rPr>
              <a:t>,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454545"/>
                </a:solidFill>
                <a:latin typeface="Roboto Slab"/>
              </a:rPr>
              <a:t>The same 1–25 score, banded into four priority levels — consistent across initiatives, without heavy tooling.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5947" y="2191211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Roboto Mono"/>
              </a:rPr>
              <a:t>IMPACT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1251" y="2800615"/>
            <a:ext cx="192024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454545"/>
                </a:solidFill>
                <a:latin typeface="Roboto Mono"/>
              </a:rPr>
              <a:t>1 · Rare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5947" y="251125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Roboto Mono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3187" y="251125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70427" y="251125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7667" y="251125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24907" y="251125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1251" y="3577855"/>
            <a:ext cx="192024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454545"/>
                </a:solidFill>
                <a:latin typeface="Roboto Mono"/>
              </a:rPr>
              <a:t>2 · Unlikely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5947" y="328849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3187" y="328849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70427" y="328849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7667" y="328849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24907" y="3288493"/>
            <a:ext cx="749808" cy="749808"/>
          </a:xfrm>
          <a:prstGeom prst="rect">
            <a:avLst/>
          </a:prstGeom>
          <a:solidFill>
            <a:srgbClr val="D6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1251" y="4355095"/>
            <a:ext cx="192024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454545"/>
                </a:solidFill>
                <a:latin typeface="Roboto Mono"/>
              </a:rPr>
              <a:t>3 · Possible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5947" y="406573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3187" y="406573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70427" y="406573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7667" y="4065733"/>
            <a:ext cx="749808" cy="749808"/>
          </a:xfrm>
          <a:prstGeom prst="rect">
            <a:avLst/>
          </a:prstGeom>
          <a:solidFill>
            <a:srgbClr val="D6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4907" y="406573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1251" y="5132335"/>
            <a:ext cx="192024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454545"/>
                </a:solidFill>
                <a:latin typeface="Roboto Mono"/>
              </a:rPr>
              <a:t>4 · Likely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5947" y="4842973"/>
            <a:ext cx="749808" cy="74980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3187" y="484297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0427" y="4842973"/>
            <a:ext cx="749808" cy="749808"/>
          </a:xfrm>
          <a:prstGeom prst="rect">
            <a:avLst/>
          </a:prstGeom>
          <a:solidFill>
            <a:srgbClr val="D6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7667" y="484297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24907" y="484297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1251" y="5909575"/>
            <a:ext cx="1920240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 dirty="0">
                <a:solidFill>
                  <a:srgbClr val="454545"/>
                </a:solidFill>
                <a:latin typeface="Roboto Mono"/>
              </a:rPr>
              <a:t>5 · Almost certain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5947" y="5620213"/>
            <a:ext cx="749808" cy="74980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454545"/>
                </a:solidFill>
                <a:latin typeface="Roboto Mono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3187" y="5620213"/>
            <a:ext cx="749808" cy="749808"/>
          </a:xfrm>
          <a:prstGeom prst="rect">
            <a:avLst/>
          </a:prstGeom>
          <a:solidFill>
            <a:srgbClr val="D6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70427" y="562021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7667" y="562021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4907" y="5620213"/>
            <a:ext cx="749808" cy="74980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Roboto Mono"/>
              </a:rPr>
              <a:t>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2511253"/>
            <a:ext cx="201168" cy="201168"/>
          </a:xfrm>
          <a:prstGeom prst="rect">
            <a:avLst/>
          </a:prstGeom>
          <a:solidFill>
            <a:srgbClr val="387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19" y="2456389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1B1F23"/>
                </a:solidFill>
                <a:latin typeface="Roboto Black"/>
              </a:rPr>
              <a:t>Low</a:t>
            </a:r>
            <a:r>
              <a:rPr sz="1250" b="0">
                <a:solidFill>
                  <a:srgbClr val="454545"/>
                </a:solidFill>
                <a:latin typeface="Roboto Medium"/>
              </a:rPr>
              <a:t>  ·  score 1–4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2968453"/>
            <a:ext cx="201168" cy="201168"/>
          </a:xfrm>
          <a:prstGeom prst="rect">
            <a:avLst/>
          </a:prstGeom>
          <a:solidFill>
            <a:srgbClr val="FFF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19" y="2913589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1B1F23"/>
                </a:solidFill>
                <a:latin typeface="Roboto Black"/>
              </a:rPr>
              <a:t>Medium</a:t>
            </a:r>
            <a:r>
              <a:rPr sz="1250" b="0">
                <a:solidFill>
                  <a:srgbClr val="454545"/>
                </a:solidFill>
                <a:latin typeface="Roboto Medium"/>
              </a:rPr>
              <a:t>  ·  score 5–9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3425653"/>
            <a:ext cx="201168" cy="201168"/>
          </a:xfrm>
          <a:prstGeom prst="rect">
            <a:avLst/>
          </a:prstGeom>
          <a:solidFill>
            <a:srgbClr val="D6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19" y="3370789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1B1F23"/>
                </a:solidFill>
                <a:latin typeface="Roboto Black"/>
              </a:rPr>
              <a:t>High</a:t>
            </a:r>
            <a:r>
              <a:rPr sz="1250" b="0">
                <a:solidFill>
                  <a:srgbClr val="454545"/>
                </a:solidFill>
                <a:latin typeface="Roboto Medium"/>
              </a:rPr>
              <a:t>  ·  score 10–14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3882853"/>
            <a:ext cx="201168" cy="201168"/>
          </a:xfrm>
          <a:prstGeom prst="rect">
            <a:avLst/>
          </a:prstGeom>
          <a:solidFill>
            <a:srgbClr val="CC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75319" y="3827989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1B1F23"/>
                </a:solidFill>
                <a:latin typeface="Roboto Black"/>
              </a:rPr>
              <a:t>Critical</a:t>
            </a:r>
            <a:r>
              <a:rPr sz="1250" b="0">
                <a:solidFill>
                  <a:srgbClr val="454545"/>
                </a:solidFill>
                <a:latin typeface="Roboto Medium"/>
              </a:rPr>
              <a:t>  ·  score 15–25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08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THE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Thirty risks, mapped across four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828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454545"/>
                </a:solidFill>
                <a:latin typeface="Roboto Medium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94560"/>
            <a:ext cx="7315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8880" y="2194560"/>
            <a:ext cx="7315200" cy="457200"/>
          </a:xfrm>
          <a:prstGeom prst="rect">
            <a:avLst/>
          </a:prstGeom>
          <a:solidFill>
            <a:srgbClr val="3E8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21240" y="219456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1B1F23"/>
                </a:solidFill>
                <a:latin typeface="Roboto Mono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828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454545"/>
                </a:solidFill>
                <a:latin typeface="Roboto Medium"/>
              </a:rPr>
              <a:t>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063240"/>
            <a:ext cx="7315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3063240"/>
            <a:ext cx="4134678" cy="457200"/>
          </a:xfrm>
          <a:prstGeom prst="rect">
            <a:avLst/>
          </a:prstGeom>
          <a:solidFill>
            <a:srgbClr val="3E8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21240" y="306324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1B1F23"/>
                </a:solidFill>
                <a:latin typeface="Roboto Mono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454545"/>
                </a:solidFill>
                <a:latin typeface="Roboto Medium"/>
              </a:rPr>
              <a:t>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931920"/>
            <a:ext cx="7315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3931920"/>
            <a:ext cx="3816626" cy="457200"/>
          </a:xfrm>
          <a:prstGeom prst="rect">
            <a:avLst/>
          </a:prstGeom>
          <a:solidFill>
            <a:srgbClr val="3E8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21240" y="393192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1B1F23"/>
                </a:solidFill>
                <a:latin typeface="Roboto Mono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828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454545"/>
                </a:solidFill>
                <a:latin typeface="Roboto Medium"/>
              </a:rPr>
              <a:t>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800600"/>
            <a:ext cx="73152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68880" y="4800600"/>
            <a:ext cx="1908313" cy="457200"/>
          </a:xfrm>
          <a:prstGeom prst="rect">
            <a:avLst/>
          </a:prstGeom>
          <a:solidFill>
            <a:srgbClr val="3E8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4800600"/>
            <a:ext cx="5486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 i="0">
                <a:solidFill>
                  <a:srgbClr val="1B1F23"/>
                </a:solidFill>
                <a:latin typeface="Roboto Mon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09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SPOTLIGHT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A sample from the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" y="2057400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40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Shadow AI 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88920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AI tools or models deployed and used by internal teams without documentation, approval, or oversight from security or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02151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DEPLOYMENT ·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7388" y="1920240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1980" y="2057400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1980" y="2057400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1980" y="2057400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980" y="2377440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Data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980" y="2788920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Sensitive data exposed through third-party tools, API calls, or model interactions, leading to loss of confidentiality or regulatory breach.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980" y="3502151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DEVELOPMENT ·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1920240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2057400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19288" y="2057400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2057400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377440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Adversarial Attacks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2788920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An attacker deliberately alters input data to mislead the model — from prompt injection to imperceptible perturbations.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3502151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08475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3945635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" y="3945635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3945635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265675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Bias &amp; Discrimination in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677155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Skewed or discriminatory results from biased training data or model design, including unequal performance across demographic groups.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390386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DEVELOPMENT · USE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7388" y="3808475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11980" y="3945635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11980" y="3945635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11980" y="3945635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1980" y="4265675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Unbounded Consumption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1980" y="4677155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Uncontrolled or excessive inference requests degrade availability or generate runaway compute costs — a.k.a. Denial of Wallet/Service.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1980" y="5390386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USE · MONITORING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54696" y="3808475"/>
            <a:ext cx="359359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19288" y="3945635"/>
            <a:ext cx="3264408" cy="1600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19288" y="3945635"/>
            <a:ext cx="640080" cy="256032"/>
          </a:xfrm>
          <a:prstGeom prst="rect">
            <a:avLst/>
          </a:prstGeom>
          <a:noFill/>
          <a:ln w="9525">
            <a:solidFill>
              <a:srgbClr val="3E8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19288" y="3945635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4265675"/>
            <a:ext cx="32644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1F23"/>
                </a:solidFill>
                <a:latin typeface="Exo 2"/>
              </a:rPr>
              <a:t>Multi-Agent &amp; Agentic AI Risks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4677155"/>
            <a:ext cx="3264408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54545"/>
                </a:solidFill>
                <a:latin typeface="Roboto Medium"/>
              </a:rPr>
              <a:t>Risks specific to autonomous agents acting with tools and memory via an agent harness — unconstrained tool access, unsafe actions, and privilege escalation.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9288" y="5390386"/>
            <a:ext cx="32644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Roboto Mono"/>
              </a:rPr>
              <a:t>DEVELOPMENT · DEPLOYMENT ·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10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FULL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B1F23"/>
                </a:solidFill>
                <a:latin typeface="Exo 2"/>
              </a:rPr>
              <a:t>All thirty, AIR01–AIR30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6235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>
                <a:solidFill>
                  <a:srgbClr val="454545"/>
                </a:solidFill>
                <a:latin typeface="Roboto Mono"/>
              </a:rPr>
              <a:t>ID     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29968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02996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2996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Shadow AI 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2996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Deployment,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18004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31800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1800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Supply Chain Vulnerabilities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1800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06040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60604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0604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Data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0604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94076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289407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9407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Cross-Border Data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89407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Deployment,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82112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18211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8211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No Validation / Improper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8211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470148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347014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47014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Insecure Deployment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47014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758184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375818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75818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Critical 3rd-party Dependency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75818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046220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04622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04622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Excessive Agency / Over-Reliance on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04622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34256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433425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33425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Model Poisoning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33425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622292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62229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62229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Model Inversion / Membership Inference / Theft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62229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Deployment, Use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910328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" y="491032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91032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Poor 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91032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Monitoring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198364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" y="519836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519836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Feedback Loop Contamination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519836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Use, Monitoring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5486400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" y="548640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48640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Alert Fatigue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548640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Monitoring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5774436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3232" y="577443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77443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Insider Threats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577443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Deployment, Use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6062472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606247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3040" y="606247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Adversarial Attacks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606247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1737360"/>
            <a:ext cx="56235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>
                <a:solidFill>
                  <a:srgbClr val="454545"/>
                </a:solidFill>
                <a:latin typeface="Roboto Mono"/>
              </a:rPr>
              <a:t>ID      RISK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46520" y="2029968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19672" y="202996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202996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Model Drift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44200" y="202996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Use, Monitoring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2318004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19672" y="231800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80" y="231800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Bias &amp; Discrimination in Outputs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44200" y="231800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2606040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19672" y="260604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260604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Critical Unintended Consequences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44200" y="260604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Deployment, Use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2894076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19672" y="289407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80" y="289407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Censorship/Guardrail interference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4200" y="289407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46520" y="3182112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519672" y="318211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69480" y="318211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Deployment misfit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44200" y="318211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Deployment, Use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46520" y="3470148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519672" y="347014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69480" y="347014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Lack of Explainability / Provenance opacity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44200" y="347014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46520" y="3758184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519672" y="375818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69480" y="375818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No Accountability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744200" y="375818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Deployment, Monitoring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46520" y="4046220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19672" y="404622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80" y="404622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Unclear Model Ownership/IP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744200" y="404622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46520" y="4334256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519672" y="433425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69480" y="433425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Output Integrity Tampering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44200" y="433425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46520" y="4622292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519672" y="462229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69480" y="462229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System Prompt / Instruction Leakage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44200" y="462229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46520" y="4910328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519672" y="4910328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69480" y="4910328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RAG / Vector Store Vulnerabilities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44200" y="4910328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46520" y="5198364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519672" y="5198364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9480" y="5198364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Unbounded Consumption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44200" y="5198364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Use, Monitoring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46520" y="5486400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519672" y="5486400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69480" y="5486400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Malicious Use / Out-of-Scope Exploitation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744200" y="5486400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Deployment, Use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446520" y="5774436"/>
            <a:ext cx="5623560" cy="288036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519672" y="5774436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AIR29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69480" y="5774436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Multi-Agent &amp; Agentic AI Risks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44200" y="5774436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Deployment, Use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446520" y="6062472"/>
            <a:ext cx="5623560" cy="288036"/>
          </a:xfrm>
          <a:prstGeom prst="rect">
            <a:avLst/>
          </a:prstGeom>
          <a:solidFill>
            <a:srgbClr val="F8F8F8"/>
          </a:solidFill>
          <a:ln w="508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519672" y="6062472"/>
            <a:ext cx="7772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3E8914"/>
                </a:solidFill>
                <a:latin typeface="Roboto Mono"/>
              </a:rPr>
              <a:t>AIR30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69480" y="6062472"/>
            <a:ext cx="352044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1F23"/>
                </a:solidFill>
                <a:latin typeface="Roboto Medium"/>
              </a:rPr>
              <a:t>Environmental / Sustainability Impact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744200" y="6062472"/>
            <a:ext cx="1280160" cy="2880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99999"/>
                </a:solidFill>
                <a:latin typeface="Roboto Medium"/>
              </a:rPr>
              <a:t>Development,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11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 dirty="0">
                <a:solidFill>
                  <a:srgbClr val="1B1F23"/>
                </a:solidFill>
                <a:latin typeface="Exo 2"/>
              </a:rPr>
              <a:t>Mapped to existing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4241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454545"/>
                </a:solidFill>
                <a:latin typeface="Roboto Slab"/>
              </a:rPr>
              <a:t>Every AIR## risk is cross-referenced so findings plug straight into the programs you already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2139696" cy="7315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B1F23"/>
                </a:solidFill>
                <a:latin typeface="Exo 2"/>
              </a:rPr>
              <a:t>NIST AI RMF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99999"/>
                </a:solidFill>
                <a:latin typeface="Roboto Mono"/>
              </a:rPr>
              <a:t>Govern · Map · Measure · Manage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331720"/>
            <a:ext cx="2139696" cy="7315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42316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B1F23"/>
                </a:solidFill>
                <a:latin typeface="Exo 2"/>
              </a:rPr>
              <a:t>OWASP LLM Top 10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99999"/>
                </a:solidFill>
                <a:latin typeface="Roboto Mono"/>
              </a:rPr>
              <a:t>2025 edition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331720"/>
            <a:ext cx="2139696" cy="7315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242316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B1F23"/>
                </a:solidFill>
                <a:latin typeface="Exo 2"/>
              </a:rPr>
              <a:t>EU AI Act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99999"/>
                </a:solidFill>
                <a:latin typeface="Roboto Mono"/>
              </a:rPr>
              <a:t>Articles 5–95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331720"/>
            <a:ext cx="2139696" cy="7315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33488" y="242316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B1F23"/>
                </a:solidFill>
                <a:latin typeface="Exo 2"/>
              </a:rPr>
              <a:t>ISO/IEC 42001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99999"/>
                </a:solidFill>
                <a:latin typeface="Roboto Mono"/>
              </a:rPr>
              <a:t>Annex A controls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331720"/>
            <a:ext cx="2139696" cy="731520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8048" y="242316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B1F23"/>
                </a:solidFill>
                <a:latin typeface="Exo 2"/>
              </a:rPr>
              <a:t>MITRE ATLAS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99999"/>
                </a:solidFill>
                <a:latin typeface="Roboto Mono"/>
              </a:rPr>
              <a:t>AML.T#### techniques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10058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63772"/>
            <a:ext cx="10058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8686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3337560"/>
            <a:ext cx="23774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0" y="3763772"/>
            <a:ext cx="23774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3337560"/>
            <a:ext cx="22402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337560"/>
            <a:ext cx="265176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23360" y="3763772"/>
            <a:ext cx="26517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3337560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OWASP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337560"/>
            <a:ext cx="155448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75120" y="3763772"/>
            <a:ext cx="155448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3337560"/>
            <a:ext cx="1417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EU AI 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337560"/>
            <a:ext cx="14630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763772"/>
            <a:ext cx="14630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MITRE ATLAS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76472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3776472"/>
            <a:ext cx="8686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ono"/>
              </a:rPr>
              <a:t>AIR03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377647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3776472"/>
            <a:ext cx="22402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Data Leakage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3776472"/>
            <a:ext cx="2651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0" y="3776472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LLM02 Sensitive Info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776472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3776472"/>
            <a:ext cx="1417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Art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776472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3776472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AML.T0057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215384"/>
            <a:ext cx="10058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215384"/>
            <a:ext cx="8686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ono"/>
              </a:rPr>
              <a:t>AIR15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4215384"/>
            <a:ext cx="23774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37360" y="4215384"/>
            <a:ext cx="22402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Adversarial Attacks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4215384"/>
            <a:ext cx="26517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0" y="4215384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LLM01 Prompt Injection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215384"/>
            <a:ext cx="155448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66560" y="4215384"/>
            <a:ext cx="1417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Art 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215384"/>
            <a:ext cx="14630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4215384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AML.T0051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654296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4654296"/>
            <a:ext cx="8686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ono"/>
              </a:rPr>
              <a:t>AIR26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465429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737360" y="4654296"/>
            <a:ext cx="22402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RAG / Vector Store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4654296"/>
            <a:ext cx="2651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4654296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LLM08 Vector Weakness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654296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66560" y="4654296"/>
            <a:ext cx="1417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Art 10 &amp; 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654296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21040" y="4654296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AML.T0070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5093208"/>
            <a:ext cx="10058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5093208"/>
            <a:ext cx="8686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ono"/>
              </a:rPr>
              <a:t>AIR27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5093208"/>
            <a:ext cx="23774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737360" y="5093208"/>
            <a:ext cx="22402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Unbounded Consumption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5093208"/>
            <a:ext cx="26517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14800" y="5093208"/>
            <a:ext cx="25146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LLM10 Unbounded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5093208"/>
            <a:ext cx="155448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66560" y="5093208"/>
            <a:ext cx="1417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Art 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5093208"/>
            <a:ext cx="146304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21040" y="5093208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1F23"/>
                </a:solidFill>
                <a:latin typeface="Roboto Medium"/>
              </a:rPr>
              <a:t>AML.T0029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99999"/>
                </a:solidFill>
                <a:latin typeface="Roboto Medium"/>
              </a:rPr>
              <a:t>Full mapping in standards-map.csv.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12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From register to risk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4241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454545"/>
                </a:solidFill>
                <a:latin typeface="Roboto Slab"/>
              </a:rPr>
              <a:t>Record two ratings, an owner, and a control per applicable risk in your project’s log — traceable back to the register by AIR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15544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004820"/>
            <a:ext cx="155448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417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Initiative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514600"/>
            <a:ext cx="777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0" y="3004820"/>
            <a:ext cx="7772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51460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AIR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51460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71800" y="3004820"/>
            <a:ext cx="26517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514600"/>
            <a:ext cx="2514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514600"/>
            <a:ext cx="365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23560" y="3004820"/>
            <a:ext cx="3657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251460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514600"/>
            <a:ext cx="365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3004820"/>
            <a:ext cx="3657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514600"/>
            <a:ext cx="5943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004820"/>
            <a:ext cx="59436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514600"/>
            <a:ext cx="457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514600"/>
            <a:ext cx="777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04820"/>
            <a:ext cx="7772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Level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80" y="2514600"/>
            <a:ext cx="914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26680" y="3004820"/>
            <a:ext cx="91440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20" y="251460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2514600"/>
            <a:ext cx="10058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41080" y="3004820"/>
            <a:ext cx="1005840" cy="12700"/>
          </a:xfrm>
          <a:prstGeom prst="rect">
            <a:avLst/>
          </a:prstGeom>
          <a:solidFill>
            <a:srgbClr val="45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20" y="2514600"/>
            <a:ext cx="8686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54545"/>
                </a:solidFill>
                <a:latin typeface="Roboto Mono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0175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017520"/>
            <a:ext cx="1417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ono"/>
              </a:rPr>
              <a:t>Support chatbot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017520"/>
            <a:ext cx="777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86000" y="301752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AIR05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30175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63240" y="3017520"/>
            <a:ext cx="2514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No Validation / Improper 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3017520"/>
            <a:ext cx="365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15000" y="301752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017520"/>
            <a:ext cx="365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01752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017520"/>
            <a:ext cx="594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46520" y="3017520"/>
            <a:ext cx="457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017520"/>
            <a:ext cx="777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40880" y="301752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30175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8120" y="301752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ML Lead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1080" y="3017520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32520" y="3017520"/>
            <a:ext cx="8686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Mitigating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520440"/>
            <a:ext cx="155448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3520440"/>
            <a:ext cx="1417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ono"/>
              </a:rPr>
              <a:t>Support chatbot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0" y="3520440"/>
            <a:ext cx="7772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286000" y="352044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AIR27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3520440"/>
            <a:ext cx="26517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63240" y="3520440"/>
            <a:ext cx="2514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Unbounded Consumption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3520440"/>
            <a:ext cx="3657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15000" y="352044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3520440"/>
            <a:ext cx="3657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80760" y="3520440"/>
            <a:ext cx="228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3520440"/>
            <a:ext cx="5943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46520" y="3520440"/>
            <a:ext cx="457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3520440"/>
            <a:ext cx="7772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40880" y="3520440"/>
            <a:ext cx="6400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Medium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80" y="3520440"/>
            <a:ext cx="9144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18120" y="352044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Platform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41080" y="3520440"/>
            <a:ext cx="10058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32520" y="3520440"/>
            <a:ext cx="86868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1F23"/>
                </a:solidFill>
                <a:latin typeface="Roboto Medium"/>
              </a:rPr>
              <a:t>Accepted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420624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99999"/>
                </a:solidFill>
                <a:latin typeface="Roboto Medium"/>
              </a:rPr>
              <a:t>Template fields: likelihood, impact, score, level, controls, owner, sign-off, KRI / monitoring signal, next review, status — see risk-log.template.csv.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B1F23"/>
                </a:solidFill>
                <a:latin typeface="Roboto Mono"/>
              </a:rPr>
              <a:t>13</a:t>
            </a:r>
            <a:r>
              <a:rPr sz="1050" b="0">
                <a:solidFill>
                  <a:srgbClr val="454545"/>
                </a:solidFill>
                <a:latin typeface="Roboto Mono"/>
              </a:rPr>
              <a:t>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Roboto Mono"/>
              </a:rPr>
              <a:t>RSAIRF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3E8914"/>
                </a:solidFill>
                <a:latin typeface="Exo 2"/>
              </a:rPr>
              <a:t>WHAT’S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B1F23"/>
                </a:solidFill>
                <a:latin typeface="Exo 2"/>
              </a:rPr>
              <a:t>Four files, ready to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5056632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E8914"/>
                </a:solidFill>
                <a:latin typeface="Roboto Mono"/>
              </a:rPr>
              <a:t>register.csv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54545"/>
                </a:solidFill>
                <a:latin typeface="Roboto Medium"/>
              </a:rPr>
              <a:t>The 30-risk AI Risk Register with IDs, lifecycle tags, and descriptions.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6188" y="2103120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59068" y="2267712"/>
            <a:ext cx="5056632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E8914"/>
                </a:solidFill>
                <a:latin typeface="Roboto Mono"/>
              </a:rPr>
              <a:t>standards-map.csv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54545"/>
                </a:solidFill>
                <a:latin typeface="Roboto Medium"/>
              </a:rPr>
              <a:t>Cross-references to NIST, OWASP, EU AI Act, ISO 42001 &amp; MITRE ATLAS.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34156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98748"/>
            <a:ext cx="5056632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E8914"/>
                </a:solidFill>
                <a:latin typeface="Roboto Mono"/>
              </a:rPr>
              <a:t>risk-log.template.csv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54545"/>
                </a:solidFill>
                <a:latin typeface="Roboto Medium"/>
              </a:rPr>
              <a:t>Ready-to-fill log for scoring, ownership, sign-off, and review cadence.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6188" y="3534156"/>
            <a:ext cx="54223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9068" y="3698748"/>
            <a:ext cx="5056632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3E8914"/>
                </a:solidFill>
                <a:latin typeface="Roboto Mono"/>
              </a:rPr>
              <a:t>README.md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54545"/>
                </a:solidFill>
                <a:latin typeface="Roboto Medium"/>
              </a:rPr>
              <a:t>Lifecycle model, usage workflow, and scoring guidance.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8AC75A"/>
                </a:solidFill>
                <a:latin typeface="Exo 2"/>
              </a:rPr>
              <a:t>GET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200" b="0" i="0" dirty="0">
                <a:solidFill>
                  <a:srgbClr val="FFFFFF"/>
                </a:solidFill>
                <a:latin typeface="Exo 2"/>
              </a:rPr>
              <a:t>Treat it as a living </a:t>
            </a:r>
            <a:r>
              <a:rPr lang="en-US" sz="4200" b="0" i="0" dirty="0">
                <a:solidFill>
                  <a:srgbClr val="FFFFFF"/>
                </a:solidFill>
                <a:latin typeface="Exo 2"/>
              </a:rPr>
              <a:t>framework</a:t>
            </a:r>
            <a:r>
              <a:rPr sz="4200" b="0" i="0" dirty="0">
                <a:solidFill>
                  <a:srgbClr val="FFFFFF"/>
                </a:solidFill>
                <a:latin typeface="Exo 2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0" i="0" dirty="0">
                <a:solidFill>
                  <a:srgbClr val="DDDDDD"/>
                </a:solidFill>
                <a:latin typeface="Roboto Slab"/>
              </a:rPr>
              <a:t>If you identify a risk not represented here, propose it by opening an issue in the repository — your contribution may help other teams facing the same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34840"/>
            <a:ext cx="4434840" cy="960120"/>
          </a:xfrm>
          <a:prstGeom prst="rect">
            <a:avLst/>
          </a:prstGeom>
          <a:noFill/>
          <a:ln w="9525">
            <a:solidFill>
              <a:srgbClr val="34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40690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8A8A8A"/>
                </a:solidFill>
                <a:latin typeface="Exo 2"/>
              </a:rPr>
              <a:t>REPOSITORY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FFFFFF"/>
                </a:solidFill>
                <a:latin typeface="Roboto Medium"/>
              </a:rPr>
              <a:t>github.com/OpenEthicsAI/RSAIRF</a:t>
            </a:r>
          </a:p>
        </p:txBody>
      </p:sp>
      <p:sp>
        <p:nvSpPr>
          <p:cNvPr id="8" name="Rectangle 7"/>
          <p:cNvSpPr/>
          <p:nvPr/>
        </p:nvSpPr>
        <p:spPr>
          <a:xfrm>
            <a:off x="5093208" y="4434840"/>
            <a:ext cx="4434840" cy="960120"/>
          </a:xfrm>
          <a:prstGeom prst="rect">
            <a:avLst/>
          </a:prstGeom>
          <a:noFill/>
          <a:ln w="9525">
            <a:solidFill>
              <a:srgbClr val="34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76088" y="4572000"/>
            <a:ext cx="40690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8A8A8A"/>
                </a:solidFill>
                <a:latin typeface="Exo 2"/>
              </a:rPr>
              <a:t>LICENSE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FFFFFF"/>
                </a:solidFill>
                <a:latin typeface="Roboto Medium"/>
              </a:rPr>
              <a:t>CC BY 4.0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1C13BB-A300-AB48-DFE9-61D977AB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50871"/>
            <a:ext cx="17145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1466</Words>
  <Application>Microsoft Macintosh PowerPoint</Application>
  <PresentationFormat>Widescreen</PresentationFormat>
  <Paragraphs>369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Exo 2</vt:lpstr>
      <vt:lpstr>Roboto Black</vt:lpstr>
      <vt:lpstr>Roboto Medium</vt:lpstr>
      <vt:lpstr>Roboto Mono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Lukianets</cp:lastModifiedBy>
  <cp:revision>4</cp:revision>
  <dcterms:created xsi:type="dcterms:W3CDTF">2013-01-27T09:14:16Z</dcterms:created>
  <dcterms:modified xsi:type="dcterms:W3CDTF">2026-09-02T16:32:58Z</dcterms:modified>
  <cp:category/>
</cp:coreProperties>
</file>